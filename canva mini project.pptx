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B2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1B2A"/>
                </a:solidFill>
                <a:latin typeface="Arial"/>
              </a:rPr>
              <a:t>Distribution of Salary (USD)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Approx. share of roles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&lt;$40k</c:v>
                </c:pt>
                <c:pt idx="1">
                  <c:v>$40-70k</c:v>
                </c:pt>
                <c:pt idx="2">
                  <c:v>$70-100k</c:v>
                </c:pt>
                <c:pt idx="3">
                  <c:v>$100-150k</c:v>
                </c:pt>
                <c:pt idx="4">
                  <c:v>$150-250k</c:v>
                </c:pt>
                <c:pt idx="5">
                  <c:v>$250k+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24</c:v>
                </c:pt>
                <c:pt idx="2">
                  <c:v>30</c:v>
                </c:pt>
                <c:pt idx="3">
                  <c:v>24</c:v>
                </c:pt>
                <c:pt idx="4">
                  <c:v>12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1D-4593-AF34-398F2D5F36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0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0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 ($k)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&quot;$&quot;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B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BI Analyst</c:v>
                </c:pt>
                <c:pt idx="1">
                  <c:v>Research Scientist</c:v>
                </c:pt>
                <c:pt idx="2">
                  <c:v>ML Engineer</c:v>
                </c:pt>
                <c:pt idx="3">
                  <c:v>AI Engineer</c:v>
                </c:pt>
                <c:pt idx="4">
                  <c:v>Data Scientist</c:v>
                </c:pt>
                <c:pt idx="5">
                  <c:v>Data Engineer</c:v>
                </c:pt>
                <c:pt idx="6">
                  <c:v>Analytics Eng.</c:v>
                </c:pt>
                <c:pt idx="7">
                  <c:v>Data Analyst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111</c:v>
                </c:pt>
                <c:pt idx="1">
                  <c:v>109</c:v>
                </c:pt>
                <c:pt idx="2">
                  <c:v>108</c:v>
                </c:pt>
                <c:pt idx="3">
                  <c:v>100</c:v>
                </c:pt>
                <c:pt idx="4">
                  <c:v>92</c:v>
                </c:pt>
                <c:pt idx="5">
                  <c:v>90</c:v>
                </c:pt>
                <c:pt idx="6">
                  <c:v>84</c:v>
                </c:pt>
                <c:pt idx="7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8A-443C-95A2-3569DE8670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0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roles (%)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867-49C9-8293-E139DCF8208C}"/>
              </c:ext>
            </c:extLst>
          </c:dPt>
          <c:dPt>
            <c:idx val="1"/>
            <c:invertIfNegative val="0"/>
            <c:bubble3D val="0"/>
            <c:spPr>
              <a:solidFill>
                <a:srgbClr val="F9616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867-49C9-8293-E139DCF8208C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Standard Paying (≤$150k)</c:v>
                </c:pt>
                <c:pt idx="1">
                  <c:v>High Paying (&gt;$150k)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83.56</c:v>
                </c:pt>
                <c:pt idx="1">
                  <c:v>16.440000000000001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867-49C9-8293-E139DCF820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B2A"/>
                </a:solidFill>
                <a:latin typeface="Arial"/>
              </a:rPr>
              <a:t>Top Salary Coefficients ($k)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 ($k)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ADC-4A4D-AD61-68E462BCEE8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ADC-4A4D-AD61-68E462BCEE8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ADC-4A4D-AD61-68E462BCEE8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ADC-4A4D-AD61-68E462BCEE89}"/>
              </c:ext>
            </c:extLst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ADC-4A4D-AD61-68E462BCEE89}"/>
              </c:ext>
            </c:extLst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ADC-4A4D-AD61-68E462BCEE89}"/>
              </c:ext>
            </c:extLst>
          </c:dPt>
          <c:dPt>
            <c:idx val="6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ADC-4A4D-AD61-68E462BCEE89}"/>
              </c:ext>
            </c:extLst>
          </c:dPt>
          <c:dPt>
            <c:idx val="7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ADC-4A4D-AD61-68E462BCEE89}"/>
              </c:ext>
            </c:extLst>
          </c:dPt>
          <c:dPt>
            <c:idx val="8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DADC-4A4D-AD61-68E462BCEE8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B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Small Company (-)</c:v>
                </c:pt>
                <c:pt idx="1">
                  <c:v>BI Analyst (-)</c:v>
                </c:pt>
                <c:pt idx="2">
                  <c:v>Data Analyst (-)</c:v>
                </c:pt>
                <c:pt idx="3">
                  <c:v>Part-time (-)</c:v>
                </c:pt>
                <c:pt idx="4">
                  <c:v>Data Sci. Manager (+)</c:v>
                </c:pt>
                <c:pt idx="5">
                  <c:v>Large Company (+)</c:v>
                </c:pt>
                <c:pt idx="6">
                  <c:v>Full-time (+)</c:v>
                </c:pt>
                <c:pt idx="7">
                  <c:v>LLM Engineer (+)</c:v>
                </c:pt>
                <c:pt idx="8">
                  <c:v>Years Experience (+)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-14.5</c:v>
                </c:pt>
                <c:pt idx="1">
                  <c:v>-24.7</c:v>
                </c:pt>
                <c:pt idx="2">
                  <c:v>-24.9</c:v>
                </c:pt>
                <c:pt idx="3">
                  <c:v>-27.2</c:v>
                </c:pt>
                <c:pt idx="4">
                  <c:v>12.9</c:v>
                </c:pt>
                <c:pt idx="5">
                  <c:v>15.7</c:v>
                </c:pt>
                <c:pt idx="6">
                  <c:v>16.2</c:v>
                </c:pt>
                <c:pt idx="7">
                  <c:v>16.2</c:v>
                </c:pt>
                <c:pt idx="8">
                  <c:v>27.8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DADC-4A4D-AD61-68E462BCEE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0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
(CV)</c:v>
                </c:pt>
                <c:pt idx="1">
                  <c:v>Logistic Regression
(Test)</c:v>
                </c:pt>
                <c:pt idx="2">
                  <c:v>Random Forest
(CV)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0.84299999999999997</c:v>
                </c:pt>
                <c:pt idx="1">
                  <c:v>0.82699999999999996</c:v>
                </c:pt>
                <c:pt idx="2">
                  <c:v>0.82699999999999996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8B-45C1-BA7A-A67A953CE3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5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0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8679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High-Paying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 Roles in 2026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job title, experience, location and remote status to classify AI &amp; Data Science roles as High Paying (&gt;$150k) or Standard Paying (≤$150k)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AI and Data Science Job Salaries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949440" cy="4206240"/>
          </a:xfrm>
          <a:prstGeom prst="roundRect">
            <a:avLst>
              <a:gd name="adj" fmla="val 2609"/>
            </a:avLst>
          </a:prstGeom>
          <a:solidFill>
            <a:srgbClr val="F7F8F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7452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competitive AI job market, companies struggle to benchmark salaries.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6309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whether an AI / Data Science role will be </a:t>
            </a: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“High Paying” (&gt;$150k)</a:t>
            </a:r>
            <a:r>
              <a:rPr lang="en-US" sz="15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“Standard Paying” (≤$150k)</a:t>
            </a:r>
            <a:r>
              <a:rPr lang="en-US" sz="15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based on job title, experience, location, and remote status?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0" y="1554480"/>
            <a:ext cx="3886200" cy="4206240"/>
          </a:xfrm>
          <a:prstGeom prst="roundRect">
            <a:avLst>
              <a:gd name="adj" fmla="val 2824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237744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16.44%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955280" y="34290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roles in the dataset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High Paying (&gt;$150k)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412480" y="4389120"/>
            <a:ext cx="260604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457200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minority, hard-to-find class —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accurate prediction valuable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challenging.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Aims of the Project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011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Salary Trends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3611880"/>
            <a:ext cx="22402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how salary varies by job title, experience level, location, company size and remote status.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0" y="173736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7F8FC"/>
          </a:solidFill>
          <a:ln/>
        </p:spPr>
      </p:sp>
      <p:sp>
        <p:nvSpPr>
          <p:cNvPr id="8" name="Text 6"/>
          <p:cNvSpPr/>
          <p:nvPr/>
        </p:nvSpPr>
        <p:spPr>
          <a:xfrm>
            <a:off x="3703320" y="2011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703320" y="2743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Predictive Models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703320" y="3611880"/>
            <a:ext cx="22402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 compare classification models to predict salary level using role and profile features.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173736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011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629400" y="2743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Key Drivers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629400" y="3611880"/>
            <a:ext cx="22402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top 3 factors that most influence whether a role is high paying.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326880" y="173736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7F8FC"/>
          </a:solidFill>
          <a:ln/>
        </p:spPr>
      </p:sp>
      <p:sp>
        <p:nvSpPr>
          <p:cNvPr id="16" name="Text 14"/>
          <p:cNvSpPr/>
          <p:nvPr/>
        </p:nvSpPr>
        <p:spPr>
          <a:xfrm>
            <a:off x="9555480" y="2011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555480" y="2743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 Actionable Insights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555480" y="3611880"/>
            <a:ext cx="22402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recommendations for job seekers, HR teams and companies on competitive compensation in 2026.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AI &amp; Data Science job postings with salary, job title, experience level, location, and remote status — used to predict if a role is High Paying (&gt;$150k).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542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42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23957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job_title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7249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name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2860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542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542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23957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experience_level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27249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EN, MI, SE, EX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542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542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15400" y="23957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15400" y="27249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salary (USD)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685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685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5387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38679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location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4290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685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685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35387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remote_ratio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20640" y="38679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0, 50, 100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4290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6760" y="3685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3685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15400" y="35387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company_size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15400" y="38679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S, M, 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5257800"/>
            <a:ext cx="368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1,000+ 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postings analyzed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236720" y="5257800"/>
            <a:ext cx="368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used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924800" y="5257800"/>
            <a:ext cx="368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16.44% 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roles are high-paying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AI and Data Science Job Salaries 2026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Salary Distribution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508760"/>
          <a:ext cx="68580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635240" y="1508760"/>
            <a:ext cx="4023360" cy="4480560"/>
          </a:xfrm>
          <a:prstGeom prst="roundRect">
            <a:avLst>
              <a:gd name="adj" fmla="val 2273"/>
            </a:avLst>
          </a:prstGeom>
          <a:solidFill>
            <a:srgbClr val="F7F8FC"/>
          </a:solidFill>
          <a:ln/>
        </p:spPr>
      </p:sp>
      <p:sp>
        <p:nvSpPr>
          <p:cNvPr id="5" name="Text 2"/>
          <p:cNvSpPr/>
          <p:nvPr/>
        </p:nvSpPr>
        <p:spPr>
          <a:xfrm>
            <a:off x="790956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909560" y="2194560"/>
            <a:ext cx="3520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roles pay between $40k-$100k; the market center of gravity.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High-paying jobs (&gt;$150k) are uncommon — a long right tail.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above $150k puts a company in the top ~15-20% of payers.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Average Salary by Job Title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508760"/>
          <a:ext cx="110642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Analyst</a:t>
            </a: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leads at ~$110k, with 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Scientists and ML Engineers</a:t>
            </a: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close behind (~$108-110k) — while Analyst roles average the least.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Experience vs. Salary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26308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0-3 yrs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22402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Salaries cluster $20k-$120k. Almost no roles cross $150k — rare outliers only.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82880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263080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21031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3-5 yrs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66160" y="2697480"/>
            <a:ext cx="22402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roles start crossing the $150k mark.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26308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1031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5-10 yrs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0" y="2697480"/>
            <a:ext cx="22402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jump: range expands to $30k-$220k with much higher density above $100k.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52560" y="182880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263080"/>
          </a:solidFill>
          <a:ln/>
        </p:spPr>
      </p:sp>
      <p:sp>
        <p:nvSpPr>
          <p:cNvPr id="13" name="Text 11"/>
          <p:cNvSpPr/>
          <p:nvPr/>
        </p:nvSpPr>
        <p:spPr>
          <a:xfrm>
            <a:off x="9235440" y="21031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8-20 yrs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235440" y="2697480"/>
            <a:ext cx="22402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high-paying zone — most concentration of roles above $200k-$300k.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trend: salary rises with experience, but non-linearly — the biggest leap happens after 5 years.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Modeling: Logistic Regression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7F8F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AUC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71800" y="150876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7F8FC"/>
          </a:solidFill>
          <a:ln/>
        </p:spPr>
      </p:sp>
      <p:sp>
        <p:nvSpPr>
          <p:cNvPr id="7" name="Text 5"/>
          <p:cNvSpPr/>
          <p:nvPr/>
        </p:nvSpPr>
        <p:spPr>
          <a:xfrm>
            <a:off x="2971800" y="1645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0.827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971800" y="2377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 AUC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94960" y="150876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7F8FC"/>
          </a:solidFill>
          <a:ln/>
        </p:spPr>
      </p:sp>
      <p:sp>
        <p:nvSpPr>
          <p:cNvPr id="10" name="Text 8"/>
          <p:cNvSpPr/>
          <p:nvPr/>
        </p:nvSpPr>
        <p:spPr>
          <a:xfrm>
            <a:off x="5394960" y="1645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94960" y="2377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Report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4572000" cy="118872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(0)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Paying 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4937760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FFF1F1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507492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 (0.77) but low precision (0.36) for the high-paying class — the model catches most high earners but over-flags some standard roles too.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0" y="31089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Distribution</a:t>
            </a:r>
            <a:endParaRPr lang="en-US" sz="14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486400" y="3429000"/>
          <a:ext cx="612648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4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Modeling: Linear Regression &amp; Salary Drivers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600200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1762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331720" y="1463040"/>
            <a:ext cx="1600200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2331720" y="15544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$35,966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331720" y="21762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0" y="1463040"/>
            <a:ext cx="1600200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15544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$46,119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114800" y="21762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 of salary variance remains unexplained by current features — job title, experience, and firm attributes matter, but many drivers aren't captured here.</a:t>
            </a:r>
            <a:endParaRPr lang="en-US" sz="11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6309360" y="1417320"/>
          <a:ext cx="5303520" cy="5074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= increases salary   </a:t>
            </a:r>
            <a:r>
              <a:rPr lang="en-US" sz="10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decreases salary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Modeling: Random Forest &amp; Model Comparison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023360" cy="4297680"/>
          </a:xfrm>
          <a:prstGeom prst="roundRect">
            <a:avLst>
              <a:gd name="adj" fmla="val 2273"/>
            </a:avLst>
          </a:prstGeom>
          <a:solidFill>
            <a:srgbClr val="F7F8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0.827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AUC (± 0.014)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hyperparameter candidates tested across 5-fold CV (540 total fits) to tune the ensemble.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— Classification AUC</a:t>
            </a:r>
            <a:endParaRPr lang="en-US" sz="15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846320" y="2011680"/>
          <a:ext cx="67665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4846320" y="54864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land around 0.83 AUC — solid discrimination, but similar ceiling given the available features.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26308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is the #1 driver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46888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rises non-linearly; the biggest leap is after 5 years. Peak zone: 8-20 years.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263080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9659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86600" y="192024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title sets pay tiers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246888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payers: BI Analyst, ML Engineer, Research Scientist, Data Science Manager. LLM Engineer commands a premium despite being rare (4.8%).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2630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41605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context matters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70916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roles and large companies push salary up; part-time and small companies pull it down.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393192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26308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42062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86600" y="41605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pay is a minority class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470916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16.44% of roles exceed $150k. Classification AUC ≈ 0.83; regression R² = 0.30 — ~70% of variance still unexplained.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F7F8F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Job Seekers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331720"/>
            <a:ext cx="4846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high-leverage titles: Data Science Manager, LLM Engineer, ML Engineer, Research Scientist.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5+ years of experience — the critical threshold to break into the &gt;$150k bracket. Specialize between years 3-8.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full-time roles at large companies — both significantly raise the odds of high pay.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55448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Companies &amp; Hiring Managers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92240" y="2331720"/>
            <a:ext cx="4846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premiums for emerging AI skills — LLM Engineer roles are rare now but already top-paid; early investment attracts talent.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title + experience bands — use the 8-20 year band as the guide for senior/principal compensation.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 analyst pay gap — Data Analyst and BI Analyst roles are common but lowest paid; build upskilling paths to ML/Research to retain talent.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966</Words>
  <Application>Microsoft Office PowerPoint</Application>
  <PresentationFormat>Widescreen</PresentationFormat>
  <Paragraphs>153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frkuhn</cp:lastModifiedBy>
  <cp:revision>1</cp:revision>
  <dcterms:created xsi:type="dcterms:W3CDTF">2026-08-17T09:58:53Z</dcterms:created>
  <dcterms:modified xsi:type="dcterms:W3CDTF">2026-08-17T10:03:58Z</dcterms:modified>
</cp:coreProperties>
</file>